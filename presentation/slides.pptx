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28816"/>
            <a:ext cx="8503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57482"/>
                </a:solidFill>
                <a:latin typeface="Segoe UI"/>
              </a:rPr>
              <a:t>GridGuardian AI</a:t>
            </a:r>
            <a:r>
              <a:rPr sz="900" b="0" i="0">
                <a:solidFill>
                  <a:srgbClr val="657482"/>
                </a:solidFill>
                <a:latin typeface="Segoe UI"/>
              </a:rPr>
              <a:t>   ·   VoltVision   ·   IBM BoB AI Innovation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4D8CCB"/>
                </a:solidFill>
                <a:latin typeface="Consolas"/>
              </a:rPr>
              <a:t>IBM BoB AI Innovation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035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E6EDF3"/>
                </a:solidFill>
                <a:latin typeface="Segoe UI"/>
              </a:rPr>
              <a:t>GRIDGUARDIAN</a:t>
            </a:r>
            <a:r>
              <a:rPr sz="4600" b="1" i="0">
                <a:solidFill>
                  <a:srgbClr val="4D8CCB"/>
                </a:solidFill>
                <a:latin typeface="Segoe UI"/>
              </a:rPr>
              <a:t> 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B98A5"/>
                </a:solidFill>
                <a:latin typeface="Segoe UI"/>
              </a:rPr>
              <a:t>Predict. Simulate. Prioritize. Respond.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6616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8B98A5"/>
                </a:solidFill>
                <a:latin typeface="Segoe UI"/>
              </a:rPr>
              <a:t>A decision copilot for grid operators — predict failure risk, simulate the cascade, then tell the crew exactly what to fix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5760720" cy="1188720"/>
          </a:xfrm>
          <a:prstGeom prst="roundRect">
            <a:avLst>
              <a:gd name="adj" fmla="val 6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00176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TEAM VOLTVISION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21808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Aum Vaja</a:t>
            </a:r>
            <a:r>
              <a:rPr sz="1250" b="0" i="0">
                <a:solidFill>
                  <a:srgbClr val="657482"/>
                </a:solidFill>
                <a:latin typeface="Segoe UI"/>
              </a:rPr>
              <a:t>  — Team Lead  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B98A5"/>
                </a:solidFill>
                <a:latin typeface="Segoe UI"/>
              </a:rPr>
              <a:t>Vrunda Kotadiya 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Tarang Prajapati 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Riza Bhatt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600200"/>
            <a:ext cx="4800600" cy="3364992"/>
          </a:xfrm>
          <a:prstGeom prst="roundRect">
            <a:avLst>
              <a:gd name="adj" fmla="val 4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45920"/>
            <a:ext cx="4709160" cy="3273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03720" y="5010912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Segoe UI"/>
              </a:rPr>
              <a:t>Live product view — GridGuardian operations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28816"/>
            <a:ext cx="8503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57482"/>
                </a:solidFill>
                <a:latin typeface="Segoe UI"/>
              </a:rPr>
              <a:t>GridGuardian AI</a:t>
            </a:r>
            <a:r>
              <a:rPr sz="900" b="0" i="0">
                <a:solidFill>
                  <a:srgbClr val="657482"/>
                </a:solidFill>
                <a:latin typeface="Segoe UI"/>
              </a:rPr>
              <a:t>   ·   VoltVision   ·   IBM BoB AI Innovation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Consola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02920"/>
            <a:ext cx="82296" cy="566928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75488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02 —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315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6EDF3"/>
                </a:solidFill>
                <a:latin typeface="Segoe UI"/>
              </a:rPr>
              <a:t>Operators know what might fail. Not what to do about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11000232" cy="12801"/>
          </a:xfrm>
          <a:prstGeom prst="rect">
            <a:avLst/>
          </a:prstGeom>
          <a:solidFill>
            <a:srgbClr val="27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8B98A5"/>
                </a:solidFill>
                <a:latin typeface="Segoe UI"/>
              </a:rPr>
              <a:t>Utility networks stream sensor data for every asset — load, temperature, vibration, age. The backlog dwarfs the crew: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3611880" cy="1600200"/>
          </a:xfrm>
          <a:prstGeom prst="roundRect">
            <a:avLst>
              <a:gd name="adj" fmla="val 5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957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WHEN DOES IT HAPPEN?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8B98A5"/>
                </a:solidFill>
                <a:latin typeface="Segoe UI"/>
              </a:rPr>
              <a:t>Predicting *when* a unit fails is only the first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2240280"/>
            <a:ext cx="3611880" cy="1600200"/>
          </a:xfrm>
          <a:prstGeom prst="roundRect">
            <a:avLst>
              <a:gd name="adj" fmla="val 5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3957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WHAT BREAKS WHEN IT FAILS?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69748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8B98A5"/>
                </a:solidFill>
                <a:latin typeface="Segoe UI"/>
              </a:rPr>
              <a:t>A transformer can take down zones, hospitals, whole suburbs.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2240280"/>
            <a:ext cx="3611880" cy="1600200"/>
          </a:xfrm>
          <a:prstGeom prst="roundRect">
            <a:avLst>
              <a:gd name="adj" fmla="val 5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3957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WHAT DO WE FIX FIRST?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69748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8B98A5"/>
                </a:solidFill>
                <a:latin typeface="Segoe UI"/>
              </a:rPr>
              <a:t>Three crews. 800 assets. The work order comes last.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160520"/>
            <a:ext cx="11000232" cy="1691640"/>
          </a:xfrm>
          <a:prstGeom prst="roundRect">
            <a:avLst>
              <a:gd name="adj" fmla="val 5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F8F3F"/>
                </a:solidFill>
                <a:latin typeface="Consolas"/>
              </a:rPr>
              <a:t>THE DANGEROUS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6EDF3"/>
                </a:solidFill>
                <a:latin typeface="Segoe UI"/>
              </a:rPr>
              <a:t>Risk-only thinking sends the crew to the wrong transformer.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3892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98A5"/>
                </a:solidFill>
                <a:latin typeface="Segoe UI"/>
              </a:rPr>
              <a:t>TX-104 risks failing at 98.32% but affects ~3,060 customers.  TX-233 has 0.52% risk — yet its failure would hit 5,377 customers and a hospital.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28816"/>
            <a:ext cx="8503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57482"/>
                </a:solidFill>
                <a:latin typeface="Segoe UI"/>
              </a:rPr>
              <a:t>GridGuardian AI</a:t>
            </a:r>
            <a:r>
              <a:rPr sz="900" b="0" i="0">
                <a:solidFill>
                  <a:srgbClr val="657482"/>
                </a:solidFill>
                <a:latin typeface="Segoe UI"/>
              </a:rPr>
              <a:t>   ·   VoltVision   ·   IBM BoB AI Innovation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Consola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02920"/>
            <a:ext cx="82296" cy="566928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75488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03 —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315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6EDF3"/>
                </a:solidFill>
                <a:latin typeface="Segoe UI"/>
              </a:rPr>
              <a:t>A decision copilot that chains four honest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11000232" cy="12801"/>
          </a:xfrm>
          <a:prstGeom prst="rect">
            <a:avLst/>
          </a:prstGeom>
          <a:solidFill>
            <a:srgbClr val="27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D8CCB"/>
                </a:solidFill>
                <a:latin typeface="Consolas"/>
              </a:rPr>
              <a:t>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5728" y="1645920"/>
            <a:ext cx="2212848" cy="868680"/>
          </a:xfrm>
          <a:prstGeom prst="roundRect">
            <a:avLst>
              <a:gd name="adj" fmla="val 8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8" y="1755648"/>
            <a:ext cx="22128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EDF3"/>
                </a:solidFill>
                <a:latin typeface="Consolas"/>
              </a:rP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103120"/>
            <a:ext cx="20299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Segoe UI"/>
              </a:rPr>
              <a:t>gradient-boosted failure probability per asset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18888" y="1645920"/>
            <a:ext cx="2212848" cy="868680"/>
          </a:xfrm>
          <a:prstGeom prst="roundRect">
            <a:avLst>
              <a:gd name="adj" fmla="val 8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755648"/>
            <a:ext cx="22128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EDF3"/>
                </a:solidFill>
                <a:latin typeface="Consolas"/>
              </a:rPr>
              <a:t>SIMULATE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7" y="2103120"/>
            <a:ext cx="20299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Segoe UI"/>
              </a:rPr>
              <a:t>deterministic cascade — what breaks next?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42048" y="1645920"/>
            <a:ext cx="2212848" cy="868680"/>
          </a:xfrm>
          <a:prstGeom prst="roundRect">
            <a:avLst>
              <a:gd name="adj" fmla="val 8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1755648"/>
            <a:ext cx="22128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EDF3"/>
                </a:solidFill>
                <a:latin typeface="Consolas"/>
              </a:rPr>
              <a:t>PRIORITIZE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103120"/>
            <a:ext cx="20299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Segoe UI"/>
              </a:rPr>
              <a:t>risk × impact × urgency + crew allocation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65208" y="1645920"/>
            <a:ext cx="2212848" cy="868680"/>
          </a:xfrm>
          <a:prstGeom prst="roundRect">
            <a:avLst>
              <a:gd name="adj" fmla="val 8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755648"/>
            <a:ext cx="22128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EDF3"/>
                </a:solidFill>
                <a:latin typeface="Consolas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2103120"/>
            <a:ext cx="20299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Segoe UI"/>
              </a:rPr>
              <a:t>LLM narrates a brief — from backend numbers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178308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D8CCB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178308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D8CCB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78308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D8CCB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178308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D8CCB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880360"/>
            <a:ext cx="53949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Failure probability (0–100) and risk category for every asset — not a black box.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Graph-based impact: zones, critical facilities, customers, stressed neighbors.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What-if on any asset, or compare four scenarios side by side.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Transparent priority score and crew allocation that shows the uncovered gap.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AI-ops brief generated strictly from structured backend facts.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743200"/>
            <a:ext cx="4389120" cy="3675887"/>
          </a:xfrm>
          <a:prstGeom prst="roundRect">
            <a:avLst>
              <a:gd name="adj" fmla="val 4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4-simulate-single-TX-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88920"/>
            <a:ext cx="4297680" cy="35844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20840" y="6464807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Segoe UI"/>
              </a:rPr>
              <a:t>Live — what-if simulation of TX-104 failure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28816"/>
            <a:ext cx="8503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57482"/>
                </a:solidFill>
                <a:latin typeface="Segoe UI"/>
              </a:rPr>
              <a:t>GridGuardian AI</a:t>
            </a:r>
            <a:r>
              <a:rPr sz="900" b="0" i="0">
                <a:solidFill>
                  <a:srgbClr val="657482"/>
                </a:solidFill>
                <a:latin typeface="Segoe UI"/>
              </a:rPr>
              <a:t>   ·   VoltVision   ·   IBM BoB AI Innovation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Consola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02920"/>
            <a:ext cx="82296" cy="566928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75488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04 —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315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6EDF3"/>
                </a:solidFill>
                <a:latin typeface="Segoe UI"/>
              </a:rPr>
              <a:t>A strict, testable pipeline end to 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11000232" cy="12801"/>
          </a:xfrm>
          <a:prstGeom prst="rect">
            <a:avLst/>
          </a:prstGeom>
          <a:solidFill>
            <a:srgbClr val="27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3429000" cy="475488"/>
          </a:xfrm>
          <a:prstGeom prst="roundRect">
            <a:avLst>
              <a:gd name="adj" fmla="val 8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17904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46504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57482"/>
                </a:solidFill>
                <a:latin typeface="Segoe UI"/>
              </a:rPr>
              <a:t>800 scored assets · sensors · network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3429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4D8CCB"/>
                </a:solidFill>
                <a:latin typeface="Segoe U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3429000" cy="475488"/>
          </a:xfrm>
          <a:prstGeom prst="roundRect">
            <a:avLst>
              <a:gd name="adj" fmla="val 8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39696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ML FAILURE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68296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57482"/>
                </a:solidFill>
                <a:latin typeface="Segoe UI"/>
              </a:rPr>
              <a:t>GradientBoostingClassifier · 21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87752"/>
            <a:ext cx="3429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4D8CCB"/>
                </a:solidFill>
                <a:latin typeface="Segoe U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24912"/>
            <a:ext cx="3429000" cy="475488"/>
          </a:xfrm>
          <a:prstGeom prst="roundRect">
            <a:avLst>
              <a:gd name="adj" fmla="val 8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76148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GRID IMPACT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990088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57482"/>
                </a:solidFill>
                <a:latin typeface="Segoe UI"/>
              </a:rPr>
              <a:t>networkx blast-radius walk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09544"/>
            <a:ext cx="3429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4D8CCB"/>
                </a:solidFill>
                <a:latin typeface="Segoe U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46704"/>
            <a:ext cx="3429000" cy="475488"/>
          </a:xfrm>
          <a:prstGeom prst="roundRect">
            <a:avLst>
              <a:gd name="adj" fmla="val 8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383280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WHAT-IF 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11880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57482"/>
                </a:solidFill>
                <a:latin typeface="Segoe UI"/>
              </a:rPr>
              <a:t>cascade: zones · facilities · 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831336"/>
            <a:ext cx="3429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4D8CCB"/>
                </a:solidFill>
                <a:latin typeface="Segoe U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68496"/>
            <a:ext cx="3429000" cy="475488"/>
          </a:xfrm>
          <a:prstGeom prst="roundRect">
            <a:avLst>
              <a:gd name="adj" fmla="val 8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05072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PRIORITY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233672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57482"/>
                </a:solidFill>
                <a:latin typeface="Segoe UI"/>
              </a:rPr>
              <a:t>risk × impact × urgency + crew allocation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53128"/>
            <a:ext cx="3429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4D8CCB"/>
                </a:solidFill>
                <a:latin typeface="Segoe UI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590288"/>
            <a:ext cx="3429000" cy="475488"/>
          </a:xfrm>
          <a:prstGeom prst="roundRect">
            <a:avLst>
              <a:gd name="adj" fmla="val 8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626864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STRUCTURED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855464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57482"/>
                </a:solidFill>
                <a:latin typeface="Segoe UI"/>
              </a:rPr>
              <a:t>JSON contract enforced by API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074920"/>
            <a:ext cx="3429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4D8CCB"/>
                </a:solidFill>
                <a:latin typeface="Segoe U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12080"/>
            <a:ext cx="3429000" cy="475488"/>
          </a:xfrm>
          <a:prstGeom prst="roundRect">
            <a:avLst>
              <a:gd name="adj" fmla="val 8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248656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AI OPERATIONS 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477256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57482"/>
                </a:solidFill>
                <a:latin typeface="Segoe UI"/>
              </a:rPr>
              <a:t>anthropic narration — key-gated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696712"/>
            <a:ext cx="3429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4D8CCB"/>
                </a:solidFill>
                <a:latin typeface="Segoe U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33872"/>
            <a:ext cx="3429000" cy="475488"/>
          </a:xfrm>
          <a:prstGeom prst="roundRect">
            <a:avLst>
              <a:gd name="adj" fmla="val 8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87044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OPERATIONS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099048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57482"/>
                </a:solidFill>
                <a:latin typeface="Segoe UI"/>
              </a:rPr>
              <a:t>React · Vite · Tailwind · Recharts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1481328"/>
            <a:ext cx="7315200" cy="1463040"/>
          </a:xfrm>
          <a:prstGeom prst="roundRect">
            <a:avLst>
              <a:gd name="adj" fmla="val 5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1591056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D8CCB"/>
                </a:solidFill>
                <a:latin typeface="Consolas"/>
              </a:rPr>
              <a:t>BACKEND — FastAPI + uvicorn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911095"/>
            <a:ext cx="6949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8B98A5"/>
                </a:solidFill>
                <a:latin typeface="Segoe UI"/>
              </a:rPr>
              <a:t>Thin routers; logic only in tested services.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8B98A5"/>
                </a:solidFill>
                <a:latin typeface="Segoe UI"/>
              </a:rPr>
              <a:t>Strict error contract: 400 / 404 / 422 / 500.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8B98A5"/>
                </a:solidFill>
                <a:latin typeface="Segoe UI"/>
              </a:rPr>
              <a:t>pydantic-validated request/response models.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3072384"/>
            <a:ext cx="7315200" cy="1463040"/>
          </a:xfrm>
          <a:prstGeom prst="roundRect">
            <a:avLst>
              <a:gd name="adj" fmla="val 5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182112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D8CCB"/>
                </a:solidFill>
                <a:latin typeface="Consolas"/>
              </a:rPr>
              <a:t>ML &amp; SIMULATION — deterministic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502152"/>
            <a:ext cx="6949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8B98A5"/>
                </a:solidFill>
                <a:latin typeface="Segoe UI"/>
              </a:rPr>
              <a:t>scikit-learn + pandas; seed 42, reproducible.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8B98A5"/>
                </a:solidFill>
                <a:latin typeface="Segoe UI"/>
              </a:rPr>
              <a:t>networkx 3.3 graph cascade for what-if.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8B98A5"/>
                </a:solidFill>
                <a:latin typeface="Segoe UI"/>
              </a:rPr>
              <a:t>metrics.json + refs to split (640 / 160).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4663440"/>
            <a:ext cx="7315200" cy="1463040"/>
          </a:xfrm>
          <a:prstGeom prst="roundRect">
            <a:avLst>
              <a:gd name="adj" fmla="val 5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4773168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D8CCB"/>
                </a:solidFill>
                <a:latin typeface="Consolas"/>
              </a:rPr>
              <a:t>FRONTEND — React 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093208"/>
            <a:ext cx="6949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8B98A5"/>
                </a:solidFill>
                <a:latin typeface="Segoe UI"/>
              </a:rPr>
              <a:t>8 operator pages with risk views.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8B98A5"/>
                </a:solidFill>
                <a:latin typeface="Segoe UI"/>
              </a:rPr>
              <a:t>Recharts visuals, dark operator theme.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8B98A5"/>
                </a:solidFill>
                <a:latin typeface="Consolas"/>
              </a:rPr>
              <a:t>Deep-linkable what-if: /simulate?ids=…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28816"/>
            <a:ext cx="8503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57482"/>
                </a:solidFill>
                <a:latin typeface="Segoe UI"/>
              </a:rPr>
              <a:t>GridGuardian AI</a:t>
            </a:r>
            <a:r>
              <a:rPr sz="900" b="0" i="0">
                <a:solidFill>
                  <a:srgbClr val="657482"/>
                </a:solidFill>
                <a:latin typeface="Segoe UI"/>
              </a:rPr>
              <a:t>   ·   VoltVision   ·   IBM BoB AI Innovation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Consola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02920"/>
            <a:ext cx="82296" cy="566928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75488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05 — 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315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6EDF3"/>
                </a:solidFill>
                <a:latin typeface="Segoe UI"/>
              </a:rPr>
              <a:t>Failure risk is not the same as operational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11000232" cy="12801"/>
          </a:xfrm>
          <a:prstGeom prst="rect">
            <a:avLst/>
          </a:prstGeom>
          <a:solidFill>
            <a:srgbClr val="27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7223760" cy="498347"/>
          </a:xfrm>
          <a:prstGeom prst="rect">
            <a:avLst/>
          </a:prstGeom>
          <a:solidFill>
            <a:srgbClr val="18232C"/>
          </a:solidFill>
          <a:ln w="9525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09344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872" y="1609344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TX-104 — 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4792" y="1609344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TX-233 — transformer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89404"/>
            <a:ext cx="7223760" cy="498347"/>
          </a:xfrm>
          <a:prstGeom prst="rect">
            <a:avLst/>
          </a:prstGeom>
          <a:solidFill>
            <a:srgbClr val="151E26"/>
          </a:solidFill>
          <a:ln w="9525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144268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Predicted failure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6872" y="2144268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F8F3F"/>
                </a:solidFill>
                <a:latin typeface="Consolas"/>
              </a:rPr>
              <a:t>98.32% 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4792" y="2144268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4F9E6B"/>
                </a:solidFill>
                <a:latin typeface="Consolas"/>
              </a:rPr>
              <a:t>0.52%  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624328"/>
            <a:ext cx="7223760" cy="498347"/>
          </a:xfrm>
          <a:prstGeom prst="rect">
            <a:avLst/>
          </a:prstGeom>
          <a:solidFill>
            <a:srgbClr val="151E26"/>
          </a:solidFill>
          <a:ln w="9525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679192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Grid impact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6872" y="2679192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6EDF3"/>
                </a:solidFill>
                <a:latin typeface="Consolas"/>
              </a:rPr>
              <a:t>70.97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4792" y="2679192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8574F"/>
                </a:solidFill>
                <a:latin typeface="Consolas"/>
              </a:rPr>
              <a:t>82.98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159252"/>
            <a:ext cx="7223760" cy="498347"/>
          </a:xfrm>
          <a:prstGeom prst="rect">
            <a:avLst/>
          </a:prstGeom>
          <a:solidFill>
            <a:srgbClr val="151E26"/>
          </a:solidFill>
          <a:ln w="9525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214116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Maintenance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6872" y="3214116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F8F3F"/>
                </a:solidFill>
                <a:latin typeface="Consolas"/>
              </a:rPr>
              <a:t>71.29 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4792" y="3214116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4F9E6B"/>
                </a:solidFill>
                <a:latin typeface="Consolas"/>
              </a:rPr>
              <a:t>0.44  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694176"/>
            <a:ext cx="7223760" cy="498347"/>
          </a:xfrm>
          <a:prstGeom prst="rect">
            <a:avLst/>
          </a:prstGeom>
          <a:solidFill>
            <a:srgbClr val="151E26"/>
          </a:solidFill>
          <a:ln w="9525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749039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Simulated severity (if failed)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6872" y="3749039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0A33D"/>
                </a:solidFill>
                <a:latin typeface="Consolas"/>
              </a:rPr>
              <a:t>HIGH — 58.62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4792" y="3749039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0A33D"/>
                </a:solidFill>
                <a:latin typeface="Consolas"/>
              </a:rPr>
              <a:t>HIGH — 66.97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229100"/>
            <a:ext cx="7223760" cy="498347"/>
          </a:xfrm>
          <a:prstGeom prst="rect">
            <a:avLst/>
          </a:prstGeom>
          <a:solidFill>
            <a:srgbClr val="151E26"/>
          </a:solidFill>
          <a:ln w="9525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4283964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Customers affected (if failed)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6872" y="4283964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6EDF3"/>
                </a:solidFill>
                <a:latin typeface="Consolas"/>
              </a:rPr>
              <a:t>~3,060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4792" y="4283964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6EDF3"/>
                </a:solidFill>
                <a:latin typeface="Consolas"/>
              </a:rPr>
              <a:t>~5,377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764024"/>
            <a:ext cx="7223760" cy="498347"/>
          </a:xfrm>
          <a:prstGeom prst="rect">
            <a:avLst/>
          </a:prstGeom>
          <a:solidFill>
            <a:srgbClr val="151E26"/>
          </a:solidFill>
          <a:ln w="9525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818888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Critical facilities downstream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6872" y="4818888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6EDF3"/>
                </a:solidFill>
                <a:latin typeface="Consolas"/>
              </a:rPr>
              <a:t>HOSP-1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4792" y="4818888"/>
            <a:ext cx="20787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6EDF3"/>
                </a:solidFill>
                <a:latin typeface="Consolas"/>
              </a:rPr>
              <a:t>HOSP-4  (ZONE-7/8)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463540"/>
            <a:ext cx="7223760" cy="566928"/>
          </a:xfrm>
          <a:prstGeom prst="roundRect">
            <a:avLst>
              <a:gd name="adj" fmla="val 8000"/>
            </a:avLst>
          </a:prstGeom>
          <a:solidFill>
            <a:srgbClr val="3C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6007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6EDF3"/>
                </a:solidFill>
                <a:latin typeface="Segoe UI"/>
              </a:rPr>
              <a:t>Risk says “watch TX-104”.  Consequence says “protect TX-233”.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19" y="1645920"/>
            <a:ext cx="3474720" cy="2907792"/>
          </a:xfrm>
          <a:prstGeom prst="roundRect">
            <a:avLst>
              <a:gd name="adj" fmla="val 4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5-simulate-compare-f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91640"/>
            <a:ext cx="3383280" cy="281635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092440" y="4599431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Segoe UI"/>
              </a:rPr>
              <a:t>Live — four what-if scenarios compared side by side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28816"/>
            <a:ext cx="8503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57482"/>
                </a:solidFill>
                <a:latin typeface="Segoe UI"/>
              </a:rPr>
              <a:t>GridGuardian AI</a:t>
            </a:r>
            <a:r>
              <a:rPr sz="900" b="0" i="0">
                <a:solidFill>
                  <a:srgbClr val="657482"/>
                </a:solidFill>
                <a:latin typeface="Segoe UI"/>
              </a:rPr>
              <a:t>   ·   VoltVision   ·   IBM BoB AI Innovation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Consola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02920"/>
            <a:ext cx="82296" cy="566928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75488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06 —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315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6EDF3"/>
                </a:solidFill>
                <a:latin typeface="Segoe UI"/>
              </a:rPr>
              <a:t>Five layers, each with a named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11000232" cy="12801"/>
          </a:xfrm>
          <a:prstGeom prst="rect">
            <a:avLst/>
          </a:prstGeom>
          <a:solidFill>
            <a:srgbClr val="27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6492240" cy="768096"/>
          </a:xfrm>
          <a:prstGeom prst="roundRect">
            <a:avLst>
              <a:gd name="adj" fmla="val 6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72768"/>
            <a:ext cx="77724" cy="768096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6EDF3"/>
                </a:solidFill>
                <a:latin typeface="Consolas"/>
              </a:rPr>
              <a:t>ML FAILURE PREDICTION</a:t>
            </a:r>
            <a:r>
              <a:rPr sz="1200" b="0" i="0">
                <a:solidFill>
                  <a:srgbClr val="657482"/>
                </a:solidFill>
                <a:latin typeface="Segoe UI"/>
              </a:rPr>
              <a:t>   —   </a:t>
            </a:r>
            <a:r>
              <a:rPr sz="1100" b="0" i="1">
                <a:solidFill>
                  <a:srgbClr val="4D8CCB"/>
                </a:solidFill>
                <a:latin typeface="Segoe UI"/>
              </a:rPr>
              <a:t>how likely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Gradient boosting probability per asset — the “when”.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32304"/>
            <a:ext cx="6492240" cy="768096"/>
          </a:xfrm>
          <a:prstGeom prst="roundRect">
            <a:avLst>
              <a:gd name="adj" fmla="val 6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432304"/>
            <a:ext cx="77724" cy="768096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05456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6EDF3"/>
                </a:solidFill>
                <a:latin typeface="Consolas"/>
              </a:rPr>
              <a:t>GRID IMPACT ASSESSMENT</a:t>
            </a:r>
            <a:r>
              <a:rPr sz="1200" b="0" i="0">
                <a:solidFill>
                  <a:srgbClr val="657482"/>
                </a:solidFill>
                <a:latin typeface="Segoe UI"/>
              </a:rPr>
              <a:t>   —   </a:t>
            </a:r>
            <a:r>
              <a:rPr sz="1100" b="0" i="1">
                <a:solidFill>
                  <a:srgbClr val="4D8CCB"/>
                </a:solidFill>
                <a:latin typeface="Segoe UI"/>
              </a:rPr>
              <a:t>how big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25496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Deterministic blast-radius across the network — the “blast”.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91840"/>
            <a:ext cx="6492240" cy="768096"/>
          </a:xfrm>
          <a:prstGeom prst="roundRect">
            <a:avLst>
              <a:gd name="adj" fmla="val 6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291840"/>
            <a:ext cx="77724" cy="768096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64992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6EDF3"/>
                </a:solidFill>
                <a:latin typeface="Consolas"/>
              </a:rPr>
              <a:t>WHAT-IF SIMULATION</a:t>
            </a:r>
            <a:r>
              <a:rPr sz="1200" b="0" i="0">
                <a:solidFill>
                  <a:srgbClr val="657482"/>
                </a:solidFill>
                <a:latin typeface="Segoe UI"/>
              </a:rPr>
              <a:t>   —   </a:t>
            </a:r>
            <a:r>
              <a:rPr sz="1100" b="0" i="1">
                <a:solidFill>
                  <a:srgbClr val="4D8CCB"/>
                </a:solidFill>
                <a:latin typeface="Segoe UI"/>
              </a:rPr>
              <a:t>what breaks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8503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Cascade walk: zones, facilities, customers, severity score.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151376"/>
            <a:ext cx="6492240" cy="768096"/>
          </a:xfrm>
          <a:prstGeom prst="roundRect">
            <a:avLst>
              <a:gd name="adj" fmla="val 6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151376"/>
            <a:ext cx="77724" cy="768096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24528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6EDF3"/>
                </a:solidFill>
                <a:latin typeface="Consolas"/>
              </a:rPr>
              <a:t>MAINTENANCE PRIORITY</a:t>
            </a:r>
            <a:r>
              <a:rPr sz="1200" b="0" i="0">
                <a:solidFill>
                  <a:srgbClr val="657482"/>
                </a:solidFill>
                <a:latin typeface="Segoe UI"/>
              </a:rPr>
              <a:t>   —   </a:t>
            </a:r>
            <a:r>
              <a:rPr sz="1100" b="0" i="1">
                <a:solidFill>
                  <a:srgbClr val="4D8CCB"/>
                </a:solidFill>
                <a:latin typeface="Segoe UI"/>
              </a:rPr>
              <a:t>what to fix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44568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Risk × impact × urgency score + crew allocation — the “call”.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010912"/>
            <a:ext cx="6492240" cy="768096"/>
          </a:xfrm>
          <a:prstGeom prst="roundRect">
            <a:avLst>
              <a:gd name="adj" fmla="val 6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5010912"/>
            <a:ext cx="77724" cy="768096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84064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6EDF3"/>
                </a:solidFill>
                <a:latin typeface="Consolas"/>
              </a:rPr>
              <a:t>GENERATIVE AI BRIEF</a:t>
            </a:r>
            <a:r>
              <a:rPr sz="1200" b="0" i="0">
                <a:solidFill>
                  <a:srgbClr val="657482"/>
                </a:solidFill>
                <a:latin typeface="Segoe UI"/>
              </a:rPr>
              <a:t>   —   </a:t>
            </a:r>
            <a:r>
              <a:rPr sz="1100" b="0" i="1">
                <a:solidFill>
                  <a:srgbClr val="4D8CCB"/>
                </a:solidFill>
                <a:latin typeface="Segoe UI"/>
              </a:rPr>
              <a:t>so anyone can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04104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5"/>
                </a:solidFill>
                <a:latin typeface="Segoe UI"/>
              </a:rPr>
              <a:t>LLM narration built from structured facts only.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852160"/>
            <a:ext cx="6492240" cy="566928"/>
          </a:xfrm>
          <a:prstGeom prst="roundRect">
            <a:avLst>
              <a:gd name="adj" fmla="val 8000"/>
            </a:avLst>
          </a:prstGeom>
          <a:solidFill>
            <a:srgbClr val="18232C"/>
          </a:solidFill>
          <a:ln w="12700">
            <a:solidFill>
              <a:srgbClr val="1D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43600"/>
            <a:ext cx="6126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8B98A5"/>
                </a:solidFill>
                <a:latin typeface="Segoe UI"/>
              </a:rPr>
              <a:t>Generative AI is a narration / decision-support layer — it never calculates ML risk or impact.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1527048"/>
            <a:ext cx="4297679" cy="3593592"/>
          </a:xfrm>
          <a:prstGeom prst="roundRect">
            <a:avLst>
              <a:gd name="adj" fmla="val 4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6-br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572768"/>
            <a:ext cx="4206240" cy="350215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60920" y="5166359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Segoe UI"/>
              </a:rPr>
              <a:t>Live — AI operations brief with the facts 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28816"/>
            <a:ext cx="8503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57482"/>
                </a:solidFill>
                <a:latin typeface="Segoe UI"/>
              </a:rPr>
              <a:t>GridGuardian AI</a:t>
            </a:r>
            <a:r>
              <a:rPr sz="900" b="0" i="0">
                <a:solidFill>
                  <a:srgbClr val="657482"/>
                </a:solidFill>
                <a:latin typeface="Segoe UI"/>
              </a:rPr>
              <a:t>   ·   VoltVision   ·   IBM BoB AI Innovation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Consola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02920"/>
            <a:ext cx="82296" cy="566928"/>
          </a:xfrm>
          <a:prstGeom prst="rect">
            <a:avLst/>
          </a:prstGeom>
          <a:solidFill>
            <a:srgbClr val="4D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75488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07 —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315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6EDF3"/>
                </a:solidFill>
                <a:latin typeface="Segoe UI"/>
              </a:rPr>
              <a:t>Measured on the scoring engine's own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11000232" cy="12801"/>
          </a:xfrm>
          <a:prstGeom prst="rect">
            <a:avLst/>
          </a:prstGeom>
          <a:solidFill>
            <a:srgbClr val="27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2615184" cy="1234440"/>
          </a:xfrm>
          <a:prstGeom prst="roundRect">
            <a:avLst>
              <a:gd name="adj" fmla="val 6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  <a:latin typeface="Consolas"/>
              </a:rPr>
              <a:t>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57482"/>
                </a:solidFill>
                <a:latin typeface="Segoe UI"/>
              </a:rPr>
              <a:t>grid assets monitored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1481328"/>
            <a:ext cx="2615184" cy="1234440"/>
          </a:xfrm>
          <a:prstGeom prst="roundRect">
            <a:avLst>
              <a:gd name="adj" fmla="val 6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68249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4D8CCB"/>
                </a:solidFill>
                <a:latin typeface="Consolas"/>
              </a:rPr>
              <a:t>0.8672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57482"/>
                </a:solidFill>
                <a:latin typeface="Segoe UI"/>
              </a:rPr>
              <a:t>ROC-AUC on the 160-asset holdout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481328"/>
            <a:ext cx="2615184" cy="1234440"/>
          </a:xfrm>
          <a:prstGeom prst="roundRect">
            <a:avLst>
              <a:gd name="adj" fmla="val 6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68249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CF8F3F"/>
                </a:solidFill>
                <a:latin typeface="Consolas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57482"/>
                </a:solidFill>
                <a:latin typeface="Segoe UI"/>
              </a:rPr>
              <a:t>open alerts — 8 critical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1481328"/>
            <a:ext cx="2615184" cy="1234440"/>
          </a:xfrm>
          <a:prstGeom prst="roundRect">
            <a:avLst>
              <a:gd name="adj" fmla="val 6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168249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C8574F"/>
                </a:solidFill>
                <a:latin typeface="Consolas"/>
              </a:rPr>
              <a:t>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57482"/>
                </a:solidFill>
                <a:latin typeface="Segoe UI"/>
              </a:rPr>
              <a:t>critical / high-priority assets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11000232" cy="1508760"/>
          </a:xfrm>
          <a:prstGeom prst="roundRect">
            <a:avLst>
              <a:gd name="adj" fmla="val 5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99008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B98A5"/>
                </a:solidFill>
                <a:latin typeface="Consolas"/>
              </a:rPr>
              <a:t>RISK DISTRIBUTION ACROSS ALL ASSETS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364992"/>
            <a:ext cx="832103" cy="292608"/>
          </a:xfrm>
          <a:prstGeom prst="roundRect">
            <a:avLst>
              <a:gd name="adj" fmla="val 20000"/>
            </a:avLst>
          </a:prstGeom>
          <a:solidFill>
            <a:srgbClr val="C8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55064" y="3364992"/>
            <a:ext cx="1228953" cy="292608"/>
          </a:xfrm>
          <a:prstGeom prst="roundRect">
            <a:avLst>
              <a:gd name="adj" fmla="val 20000"/>
            </a:avLst>
          </a:prstGeom>
          <a:solidFill>
            <a:srgbClr val="CF8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84017" y="3364992"/>
            <a:ext cx="2048255" cy="292608"/>
          </a:xfrm>
          <a:prstGeom prst="roundRect">
            <a:avLst>
              <a:gd name="adj" fmla="val 20000"/>
            </a:avLst>
          </a:prstGeom>
          <a:solidFill>
            <a:srgbClr val="C0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32273" y="3364992"/>
            <a:ext cx="6131966" cy="292608"/>
          </a:xfrm>
          <a:prstGeom prst="roundRect">
            <a:avLst>
              <a:gd name="adj" fmla="val 20000"/>
            </a:avLst>
          </a:prstGeom>
          <a:solidFill>
            <a:srgbClr val="4F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67328"/>
            <a:ext cx="10607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8574F"/>
                </a:solidFill>
                <a:latin typeface="Segoe UI"/>
              </a:rPr>
              <a:t>●</a:t>
            </a:r>
            <a:r>
              <a:rPr sz="1000" b="0" i="0">
                <a:solidFill>
                  <a:srgbClr val="8B98A5"/>
                </a:solidFill>
                <a:latin typeface="Consolas"/>
              </a:rPr>
              <a:t>  CRITICAL 65   </a:t>
            </a:r>
            <a:r>
              <a:rPr sz="900" b="0" i="0">
                <a:solidFill>
                  <a:srgbClr val="CF8F3F"/>
                </a:solidFill>
                <a:latin typeface="Segoe UI"/>
              </a:rPr>
              <a:t>●</a:t>
            </a:r>
            <a:r>
              <a:rPr sz="1000" b="0" i="0">
                <a:solidFill>
                  <a:srgbClr val="8B98A5"/>
                </a:solidFill>
                <a:latin typeface="Consolas"/>
              </a:rPr>
              <a:t>  HIGH 96   </a:t>
            </a:r>
            <a:r>
              <a:rPr sz="900" b="0" i="0">
                <a:solidFill>
                  <a:srgbClr val="C0A33D"/>
                </a:solidFill>
                <a:latin typeface="Segoe UI"/>
              </a:rPr>
              <a:t>●</a:t>
            </a:r>
            <a:r>
              <a:rPr sz="1000" b="0" i="0">
                <a:solidFill>
                  <a:srgbClr val="8B98A5"/>
                </a:solidFill>
                <a:latin typeface="Consolas"/>
              </a:rPr>
              <a:t>  MEDIUM 160   </a:t>
            </a:r>
            <a:r>
              <a:rPr sz="900" b="0" i="0">
                <a:solidFill>
                  <a:srgbClr val="4F9E6B"/>
                </a:solidFill>
                <a:latin typeface="Segoe UI"/>
              </a:rPr>
              <a:t>●</a:t>
            </a:r>
            <a:r>
              <a:rPr sz="1000" b="0" i="0">
                <a:solidFill>
                  <a:srgbClr val="8B98A5"/>
                </a:solidFill>
                <a:latin typeface="Consolas"/>
              </a:rPr>
              <a:t>  LOW 479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4164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57482"/>
                </a:solidFill>
                <a:latin typeface="Consolas"/>
              </a:rPr>
              <a:t>MAINTENANCE PRIORITY    </a:t>
            </a:r>
            <a:r>
              <a:rPr sz="900" b="0" i="0">
                <a:solidFill>
                  <a:srgbClr val="C8574F"/>
                </a:solidFill>
                <a:latin typeface="Segoe UI"/>
              </a:rPr>
              <a:t>●</a:t>
            </a:r>
            <a:r>
              <a:rPr sz="1000" b="0" i="0">
                <a:solidFill>
                  <a:srgbClr val="8B98A5"/>
                </a:solidFill>
                <a:latin typeface="Consolas"/>
              </a:rPr>
              <a:t> CRITICAL 21    </a:t>
            </a:r>
            <a:r>
              <a:rPr sz="900" b="0" i="0">
                <a:solidFill>
                  <a:srgbClr val="CF8F3F"/>
                </a:solidFill>
                <a:latin typeface="Segoe UI"/>
              </a:rPr>
              <a:t>●</a:t>
            </a:r>
            <a:r>
              <a:rPr sz="1000" b="0" i="0">
                <a:solidFill>
                  <a:srgbClr val="8B98A5"/>
                </a:solidFill>
                <a:latin typeface="Consolas"/>
              </a:rPr>
              <a:t> HIGH 59    </a:t>
            </a:r>
            <a:r>
              <a:rPr sz="900" b="0" i="0">
                <a:solidFill>
                  <a:srgbClr val="C0A33D"/>
                </a:solidFill>
                <a:latin typeface="Segoe UI"/>
              </a:rPr>
              <a:t>●</a:t>
            </a:r>
            <a:r>
              <a:rPr sz="1000" b="0" i="0">
                <a:solidFill>
                  <a:srgbClr val="8B98A5"/>
                </a:solidFill>
                <a:latin typeface="Consolas"/>
              </a:rPr>
              <a:t> MEDIUM 105    </a:t>
            </a:r>
            <a:r>
              <a:rPr sz="900" b="0" i="0">
                <a:solidFill>
                  <a:srgbClr val="4F9E6B"/>
                </a:solidFill>
                <a:latin typeface="Segoe UI"/>
              </a:rPr>
              <a:t>●</a:t>
            </a:r>
            <a:r>
              <a:rPr sz="1000" b="0" i="0">
                <a:solidFill>
                  <a:srgbClr val="8B98A5"/>
                </a:solidFill>
                <a:latin typeface="Consolas"/>
              </a:rPr>
              <a:t> LOW 615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53128"/>
            <a:ext cx="2743200" cy="1929384"/>
          </a:xfrm>
          <a:prstGeom prst="roundRect">
            <a:avLst>
              <a:gd name="adj" fmla="val 4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2-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498848"/>
            <a:ext cx="2651760" cy="1837943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611880" y="4498848"/>
            <a:ext cx="7955279" cy="1828800"/>
          </a:xfrm>
          <a:prstGeom prst="roundRect">
            <a:avLst>
              <a:gd name="adj" fmla="val 5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4626864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F8F3F"/>
                </a:solidFill>
                <a:latin typeface="Consolas"/>
              </a:rPr>
              <a:t>HONEST LIMITATIONS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901184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8B98A5"/>
                </a:solidFill>
                <a:latin typeface="Segoe UI"/>
              </a:rPr>
              <a:t>Synthetic, seeded demonstration data — labeled in-app, not real utility data.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8B98A5"/>
                </a:solidFill>
                <a:latin typeface="Segoe UI"/>
              </a:rPr>
              <a:t>Cascade simulation is a deterministic graph walk — not a power-flow solver.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1" i="0">
                <a:solidFill>
                  <a:srgbClr val="4D8CCB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8B98A5"/>
                </a:solidFill>
                <a:latin typeface="Segoe UI"/>
              </a:rPr>
              <a:t>Without an API key the app still works and says what to 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961888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D8CCB"/>
                </a:solidFill>
                <a:latin typeface="Segoe UI"/>
              </a:rPr>
              <a:t>Supports 155,751 customers behind critical / high-priority assets.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28816"/>
            <a:ext cx="8503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57482"/>
                </a:solidFill>
                <a:latin typeface="Segoe UI"/>
              </a:rPr>
              <a:t>GridGuardian AI</a:t>
            </a:r>
            <a:r>
              <a:rPr sz="900" b="0" i="0">
                <a:solidFill>
                  <a:srgbClr val="657482"/>
                </a:solidFill>
                <a:latin typeface="Segoe UI"/>
              </a:rPr>
              <a:t>   ·   VoltVision   ·   IBM BoB AI Innovation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57482"/>
                </a:solidFill>
                <a:latin typeface="Consolas"/>
              </a:rPr>
              <a:t>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151E26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D8CCB"/>
                </a:solidFill>
                <a:latin typeface="Consolas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6EDF3"/>
                </a:solidFill>
                <a:latin typeface="Segoe UI"/>
              </a:rPr>
              <a:t>VOLTVISION</a:t>
            </a:r>
            <a:r>
              <a:rPr sz="1500" b="0" i="0">
                <a:solidFill>
                  <a:srgbClr val="8B98A5"/>
                </a:solidFill>
                <a:latin typeface="Segoe UI"/>
              </a:rPr>
              <a:t>   · AI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E6EDF3"/>
                </a:solidFill>
                <a:latin typeface="Segoe UI"/>
              </a:rPr>
              <a:t>Aum Vaja</a:t>
            </a:r>
            <a:r>
              <a:rPr sz="1250" b="0" i="0">
                <a:solidFill>
                  <a:srgbClr val="657482"/>
                </a:solidFill>
                <a:latin typeface="Segoe UI"/>
              </a:rPr>
              <a:t>   —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Team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04487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E6EDF3"/>
                </a:solidFill>
                <a:latin typeface="Segoe UI"/>
              </a:rPr>
              <a:t>Vrunda Kotadiya</a:t>
            </a:r>
            <a:r>
              <a:rPr sz="1250" b="0" i="0">
                <a:solidFill>
                  <a:srgbClr val="657482"/>
                </a:solidFill>
                <a:latin typeface="Segoe UI"/>
              </a:rPr>
              <a:t>   —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7141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E6EDF3"/>
                </a:solidFill>
                <a:latin typeface="Segoe UI"/>
              </a:rPr>
              <a:t>Tarang Prajapati</a:t>
            </a:r>
            <a:r>
              <a:rPr sz="1250" b="0" i="0">
                <a:solidFill>
                  <a:srgbClr val="657482"/>
                </a:solidFill>
                <a:latin typeface="Segoe UI"/>
              </a:rPr>
              <a:t>   —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3834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E6EDF3"/>
                </a:solidFill>
                <a:latin typeface="Segoe UI"/>
              </a:rPr>
              <a:t>Riza Bhatt</a:t>
            </a:r>
            <a:r>
              <a:rPr sz="1250" b="0" i="0">
                <a:solidFill>
                  <a:srgbClr val="657482"/>
                </a:solidFill>
                <a:latin typeface="Segoe UI"/>
              </a:rPr>
              <a:t>   —  </a:t>
            </a:r>
            <a:r>
              <a:rPr sz="1250" b="0" i="0">
                <a:solidFill>
                  <a:srgbClr val="8B98A5"/>
                </a:solidFill>
                <a:latin typeface="Segoe UI"/>
              </a:rPr>
              <a:t>Member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54480"/>
            <a:ext cx="5513832" cy="4480560"/>
          </a:xfrm>
          <a:prstGeom prst="roundRect">
            <a:avLst>
              <a:gd name="adj" fmla="val 5000"/>
            </a:avLst>
          </a:prstGeom>
          <a:solidFill>
            <a:srgbClr val="18232C"/>
          </a:solidFill>
          <a:ln w="12700">
            <a:solidFill>
              <a:srgbClr val="27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F8F3F"/>
                </a:solidFill>
                <a:latin typeface="Consola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1">
                <a:solidFill>
                  <a:srgbClr val="E6EDF3"/>
                </a:solidFill>
                <a:latin typeface="Segoe UI"/>
              </a:rPr>
              <a:t>“The grid doesn’t give operators more time — it gives them more data. GridGuardian turns that data into a decision, before the grid forces one.”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9768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 i="0">
                <a:solidFill>
                  <a:srgbClr val="8B98A5"/>
                </a:solidFill>
                <a:latin typeface="Segoe UI"/>
              </a:rPr>
              <a:t>Predict the risk. </a:t>
            </a:r>
            <a:r>
              <a:rPr sz="1450" b="1" i="0">
                <a:solidFill>
                  <a:srgbClr val="8B98A5"/>
                </a:solidFill>
                <a:latin typeface="Segoe UI"/>
              </a:rPr>
              <a:t>Simulate the failure. </a:t>
            </a:r>
            <a:r>
              <a:rPr sz="1450" b="1" i="0">
                <a:solidFill>
                  <a:srgbClr val="8B98A5"/>
                </a:solidFill>
                <a:latin typeface="Segoe UI"/>
              </a:rPr>
              <a:t>Prioritize the crew. </a:t>
            </a:r>
            <a:r>
              <a:rPr sz="1450" b="1" i="0">
                <a:solidFill>
                  <a:srgbClr val="4D8CCB"/>
                </a:solidFill>
                <a:latin typeface="Segoe UI"/>
              </a:rPr>
              <a:t>Respond — before it happens.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17920"/>
            <a:ext cx="11000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57482"/>
                </a:solidFill>
                <a:latin typeface="Segoe UI"/>
              </a:rPr>
              <a:t>Synthetic demonstration data — not real utility data. Hackathon prototype.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